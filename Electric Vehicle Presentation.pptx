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C4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>
            <a:alphaModFix amt="5000"/>
            <a:extLst/>
          </a:blip>
          <a:stretch>
            <a:fillRect/>
          </a:stretch>
        </p:blipFill>
        <p:spPr>
          <a:xfrm>
            <a:off x="81" y="0"/>
            <a:ext cx="1219191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5"/>
          <p:cNvSpPr txBox="1"/>
          <p:nvPr/>
        </p:nvSpPr>
        <p:spPr>
          <a:xfrm>
            <a:off x="166489" y="-51757"/>
            <a:ext cx="5317325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96" name="TextBox 6"/>
          <p:cNvSpPr txBox="1"/>
          <p:nvPr/>
        </p:nvSpPr>
        <p:spPr>
          <a:xfrm>
            <a:off x="175116" y="572705"/>
            <a:ext cx="4385669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chemeClr val="accent4"/>
                </a:solidFill>
              </a:defRPr>
            </a:lvl1pPr>
          </a:lstStyle>
          <a:p>
            <a:pPr/>
            <a:r>
              <a:t>KPI’S Requirement</a:t>
            </a:r>
          </a:p>
        </p:txBody>
      </p:sp>
      <p:sp>
        <p:nvSpPr>
          <p:cNvPr id="97" name="TextBox 7"/>
          <p:cNvSpPr txBox="1"/>
          <p:nvPr/>
        </p:nvSpPr>
        <p:spPr>
          <a:xfrm>
            <a:off x="175115" y="946415"/>
            <a:ext cx="10743340" cy="5701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buSzPct val="100000"/>
              <a:buAutoNum type="arabicPeriod" startAt="1"/>
              <a:defRPr b="1">
                <a:solidFill>
                  <a:srgbClr val="A9D18E"/>
                </a:solidFill>
              </a:defRPr>
            </a:pPr>
            <a:r>
              <a:t> Total Vehicles: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pPr>
            <a: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  <a:defRPr b="1">
                <a:solidFill>
                  <a:srgbClr val="A9D18E"/>
                </a:solidFill>
              </a:defRPr>
            </a:pPr>
            <a:r>
              <a:t>2. Average Electric Range: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pPr>
            <a:r>
              <a:t>Determine the average electric range of the electric vehicles in the dataset to gauge the technological advancements and efficiency of the EVs.</a:t>
            </a:r>
          </a:p>
          <a:p>
            <a:pPr>
              <a:lnSpc>
                <a:spcPct val="150000"/>
              </a:lnSpc>
              <a:defRPr b="1">
                <a:solidFill>
                  <a:srgbClr val="A9D18E"/>
                </a:solidFill>
              </a:defRPr>
            </a:pPr>
            <a:r>
              <a:t>3. Total BEV Vehicles and % of Total BEV Vehicles: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pPr>
            <a:r>
              <a:t>Identify and analyze the total number of Battery Electric Vehicles (BEVs) in the dataset.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pPr>
            <a: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  <a:defRPr b="1">
                <a:solidFill>
                  <a:srgbClr val="A9D18E"/>
                </a:solidFill>
              </a:defRPr>
            </a:pPr>
            <a:r>
              <a:t>4. Total PHEV Vehicles and % of Total PHEV Vehicles: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pPr>
            <a:r>
              <a:t>Identify and analyze the total number of Plug-in Hybrid Electric Vehicles (PHEVs) in the dataset.</a:t>
            </a:r>
          </a:p>
          <a:p>
            <a:pPr lvl="1" marL="742950" indent="-285750">
              <a:lnSpc>
                <a:spcPct val="150000"/>
              </a:lnSpc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pPr>
            <a:r>
              <a:t>Calculate the percentage of PHEVs relative to the total number of electric vehicles, offering insights into the market share of plug-in hybrid models.</a:t>
            </a:r>
          </a:p>
        </p:txBody>
      </p:sp>
      <p:pic>
        <p:nvPicPr>
          <p:cNvPr id="98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95721" y="97408"/>
            <a:ext cx="966884" cy="6973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C4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4" descr="Picture 4"/>
          <p:cNvPicPr>
            <a:picLocks noChangeAspect="1"/>
          </p:cNvPicPr>
          <p:nvPr/>
        </p:nvPicPr>
        <p:blipFill>
          <a:blip r:embed="rId2">
            <a:alphaModFix amt="5000"/>
            <a:extLst/>
          </a:blip>
          <a:stretch>
            <a:fillRect/>
          </a:stretch>
        </p:blipFill>
        <p:spPr>
          <a:xfrm>
            <a:off x="81" y="0"/>
            <a:ext cx="1219191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Box 5"/>
          <p:cNvSpPr txBox="1"/>
          <p:nvPr/>
        </p:nvSpPr>
        <p:spPr>
          <a:xfrm>
            <a:off x="166489" y="-51757"/>
            <a:ext cx="5317325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02" name="TextBox 6"/>
          <p:cNvSpPr txBox="1"/>
          <p:nvPr/>
        </p:nvSpPr>
        <p:spPr>
          <a:xfrm>
            <a:off x="175116" y="572705"/>
            <a:ext cx="4385669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chemeClr val="accent4"/>
                </a:solidFill>
              </a:defRPr>
            </a:lvl1pPr>
          </a:lstStyle>
          <a:p>
            <a:pPr/>
            <a:r>
              <a:t>Charts Requirement</a:t>
            </a:r>
          </a:p>
        </p:txBody>
      </p:sp>
      <p:sp>
        <p:nvSpPr>
          <p:cNvPr id="103" name="TextBox 7"/>
          <p:cNvSpPr txBox="1"/>
          <p:nvPr/>
        </p:nvSpPr>
        <p:spPr>
          <a:xfrm>
            <a:off x="175115" y="1031227"/>
            <a:ext cx="10743340" cy="5882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buSzPct val="100000"/>
              <a:buAutoNum type="arabicPeriod" startAt="1"/>
              <a:defRPr b="1">
                <a:solidFill>
                  <a:srgbClr val="A9D18E"/>
                </a:solidFill>
              </a:defRPr>
            </a:pPr>
            <a:r>
              <a:t>Total Vehicles by Model Year (From 2010 Onwards):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Visualization: Line/ Area Chart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Description: This chart will illustrate the distribution of electric vehicles over the years, starting from 2010, providing insights into the growth pattern and adoption trends.</a:t>
            </a:r>
          </a:p>
          <a:p>
            <a:pPr>
              <a:defRPr b="1">
                <a:solidFill>
                  <a:srgbClr val="A9D18E"/>
                </a:solidFill>
              </a:defRPr>
            </a:pPr>
            <a:r>
              <a:t>2. Total Vehicles by State: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Visualization: Map Chart 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pPr>
              <a:defRPr b="1">
                <a:solidFill>
                  <a:srgbClr val="A9D18E"/>
                </a:solidFill>
              </a:defRPr>
            </a:pPr>
            <a:r>
              <a:t>3. Top 10 Total Vehicles by Make: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Visualization: Bar Chart 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Description: Highlight the top 10 electric vehicle manufacturers based on the total number of vehicles, providing insights into the market dominance of specific brands.</a:t>
            </a:r>
          </a:p>
          <a:p>
            <a:pPr>
              <a:defRPr b="1">
                <a:solidFill>
                  <a:srgbClr val="A9D18E"/>
                </a:solidFill>
              </a:defRPr>
            </a:pPr>
            <a:r>
              <a:t>4. Total Vehicles by CAFV Eligibility: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Visualization: Pie Chart or Donut Chart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pPr>
              <a:defRPr b="1">
                <a:solidFill>
                  <a:srgbClr val="A9D18E"/>
                </a:solidFill>
              </a:defRPr>
            </a:pPr>
            <a:r>
              <a:t>5. Top 10 Total Vehicles by Model: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Visualization: Tree map</a:t>
            </a:r>
          </a:p>
          <a:p>
            <a:pPr lvl="1" marL="742950" indent="-285750">
              <a:buSzPct val="100000"/>
              <a:buAutoNum type="arabicPeriod" startAt="1"/>
              <a:defRPr>
                <a:solidFill>
                  <a:srgbClr val="FFFFFF"/>
                </a:solidFill>
              </a:defRPr>
            </a:pPr>
            <a:r>
              <a:t>Description: Highlight the top 10 electric vehicle models based on the total number of vehicles, offering insights into consumer preferences and popular models in the market.</a:t>
            </a:r>
          </a:p>
        </p:txBody>
      </p:sp>
      <p:pic>
        <p:nvPicPr>
          <p:cNvPr id="10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95721" y="97408"/>
            <a:ext cx="966884" cy="6973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